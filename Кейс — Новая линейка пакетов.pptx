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F6FED"/>
                </a:solidFill>
                <a:latin typeface="Arial"/>
              </a:rPr>
              <a:t>Продуктовый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6217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2294A"/>
                </a:solidFill>
                <a:latin typeface="Arial"/>
              </a:rPr>
              <a:t>Новая линейка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12294A"/>
                </a:solidFill>
                <a:latin typeface="Arial"/>
              </a:rPr>
              <a:t>пакетов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A3D5C"/>
                </a:solidFill>
                <a:latin typeface="Arial"/>
              </a:rPr>
              <a:t>Пакеты и подписки в личном кабинете риелтора: как я перепаковал линейку и поднял выручку от продвижения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26280"/>
            <a:ext cx="5760720" cy="1371600"/>
          </a:xfrm>
          <a:prstGeom prst="roundRect">
            <a:avLst>
              <a:gd name="adj" fmla="val 1866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4300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2294A"/>
                </a:solidFill>
                <a:latin typeface="Arial"/>
              </a:rPr>
              <a:t>Роль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749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>Продуктовый дизайнер — концепты, интервью с пользователями, финальный UI, поддержка А/Б-теста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2944" y="923544"/>
            <a:ext cx="4096511" cy="488289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_p7_6_X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05840"/>
            <a:ext cx="3931920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Что такое пакет и зачем баллы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029200" cy="1234440"/>
          </a:xfrm>
          <a:prstGeom prst="roundRect">
            <a:avLst>
              <a:gd name="adj" fmla="val 2074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Пакет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Оптовая покупка публикаций. Пять объявлений поштучно — по 100 ₽, в пакете — по 60 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029200" cy="1234440"/>
          </a:xfrm>
          <a:prstGeom prst="roundRect">
            <a:avLst>
              <a:gd name="adj" fmla="val 2074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Баллы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Внутренняя валюта на продвижение объявлений. 1 балл = 1 ₽. Могут входить в пакет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5029200" cy="1234440"/>
          </a:xfrm>
          <a:prstGeom prst="roundRect">
            <a:avLst>
              <a:gd name="adj" fmla="val 2074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Подписка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Тот же пакет, но с бенефитами: скидками, кешбэком, персональным менеджером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700784"/>
            <a:ext cx="5376672" cy="4425696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" name="Picture 14" descr="c_p2_1_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212080" cy="42611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61447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Страница «Собрать свой пакет» — то, с чего мы начинали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Гипотеза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1554480"/>
          </a:xfrm>
          <a:prstGeom prst="roundRect">
            <a:avLst>
              <a:gd name="adj" fmla="val 16470"/>
            </a:avLst>
          </a:prstGeom>
          <a:solidFill>
            <a:srgbClr val="EDF3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149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2294A"/>
                </a:solidFill>
                <a:latin typeface="Arial"/>
              </a:rPr>
              <a:t>Если мы внедрим вариант подписки лайт с фичами и обязательной покупкой баллов, то увеличим проникновение VAS в выручку пакетов на уровне х2 от текущего — и общую выручку продукта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5303520" cy="2103120"/>
          </a:xfrm>
          <a:prstGeom prst="roundRect">
            <a:avLst>
              <a:gd name="adj" fmla="val 121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2294A"/>
                </a:solidFill>
                <a:latin typeface="Arial"/>
              </a:rPr>
              <a:t>Дизайн-задача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70832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Показать бенефиты подписки и то, с какого количества баллов они становятся доступны — прямо в конструкторе пакета, не уводя пользователя на отдельную страницу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03320"/>
            <a:ext cx="5303520" cy="2103120"/>
          </a:xfrm>
          <a:prstGeom prst="roundRect">
            <a:avLst>
              <a:gd name="adj" fmla="val 121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7960" y="397763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2294A"/>
                </a:solidFill>
                <a:latin typeface="Arial"/>
              </a:rPr>
              <a:t>На что смотрим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8912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>
                <a:solidFill>
                  <a:srgbClr val="2A3D5C"/>
                </a:solidFill>
                <a:latin typeface="Arial"/>
              </a:rPr>
              <a:t>•  Проникновение VAS в выручку пакетов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>
                <a:solidFill>
                  <a:srgbClr val="2A3D5C"/>
                </a:solidFill>
                <a:latin typeface="Arial"/>
              </a:rPr>
              <a:t>•  Средний чек в конструкторе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>
                <a:solidFill>
                  <a:srgbClr val="2A3D5C"/>
                </a:solidFill>
                <a:latin typeface="Arial"/>
              </a:rPr>
              <a:t>•  Конверсия в покупку пакета с баллами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Итерации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Первые заходы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Бенефиты внутри поля выбора баллов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883664"/>
            <a:ext cx="5193792" cy="4270248"/>
          </a:xfrm>
          <a:prstGeom prst="roundRect">
            <a:avLst>
              <a:gd name="adj" fmla="val 2569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c_p3_2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029200" cy="4105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Бенефиты как отдельная опция-чекбокс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883664"/>
            <a:ext cx="5193792" cy="4078224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_p4_3_X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5029200" cy="3913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217920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Пробовали привязать бенефиты к полю «Баллы на продвижение» и вынести их отдельной опцией. В обоих случаях связка «баллы → бенефиты» читалась плохо.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Итерации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294A"/>
                </a:solidFill>
                <a:latin typeface="Arial"/>
              </a:rPr>
              <a:t>Концепт, с которым пошли к пользователям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609344"/>
            <a:ext cx="5632704" cy="4873752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c_p5_4_X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68112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691640"/>
            <a:ext cx="4937760" cy="4709160"/>
          </a:xfrm>
          <a:prstGeom prst="roundRect">
            <a:avLst>
              <a:gd name="adj" fmla="val 543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9659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2294A"/>
                </a:solidFill>
                <a:latin typeface="Arial"/>
              </a:rPr>
              <a:t>Логика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51460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2294A"/>
                </a:solidFill>
                <a:latin typeface="Arial"/>
              </a:rPr>
              <a:t>Два уровня рядом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80720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«Бронза-лайт» и «Серебро-лайт» — чтобы разница между ними была видна в одном экране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81304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813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2294A"/>
                </a:solidFill>
                <a:latin typeface="Arial"/>
              </a:rPr>
              <a:t>Порог по баллам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105656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Подпись «От 3 500 баллов» объясняет, что именно открывает следующий уровень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5111496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1114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2294A"/>
                </a:solidFill>
                <a:latin typeface="Arial"/>
              </a:rPr>
              <a:t>Расчёт в чекауте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404104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Скидки, кешбэк и итог пересчитываются справа при изменении параметров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Исследование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Что сказали пользователи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200400" cy="1965960"/>
          </a:xfrm>
          <a:prstGeom prst="roundRect">
            <a:avLst>
              <a:gd name="adj" fmla="val 1302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12294A"/>
                </a:solidFill>
                <a:latin typeface="Arial"/>
              </a:rPr>
              <a:t>Скидки непонятны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Пользователи не считывали логику скидок, а в информеры просто не заходили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1" y="1783080"/>
            <a:ext cx="3200400" cy="1965960"/>
          </a:xfrm>
          <a:prstGeom prst="roundRect">
            <a:avLst>
              <a:gd name="adj" fmla="val 1302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70831" y="203911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12294A"/>
                </a:solidFill>
                <a:latin typeface="Arial"/>
              </a:rPr>
              <a:t>Нет среднего варианта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1" y="249631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Есть плохой и хороший. Между ними пусто — выбор выглядит незаконченным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3200400" cy="1965960"/>
          </a:xfrm>
          <a:prstGeom prst="roundRect">
            <a:avLst>
              <a:gd name="adj" fmla="val 1302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12294A"/>
                </a:solidFill>
                <a:latin typeface="Arial"/>
              </a:rPr>
              <a:t>Нейминг не работает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Про подписки эта когорта не знает. «Серебро-лайт» для неё — просто ярлык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1" y="4023360"/>
            <a:ext cx="3200400" cy="1965960"/>
          </a:xfrm>
          <a:prstGeom prst="roundRect">
            <a:avLst>
              <a:gd name="adj" fmla="val 1302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70831" y="427939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12294A"/>
                </a:solidFill>
                <a:latin typeface="Arial"/>
              </a:rPr>
              <a:t>Заголовок важнее списка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473659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Разницу нужно писать заголовком, а не только галочками в списке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4" y="1700784"/>
            <a:ext cx="4005072" cy="269748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c_p6_5_X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83080"/>
            <a:ext cx="3840480" cy="2532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0" y="44074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Тот самый информер, в который не заходили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800600"/>
            <a:ext cx="3840480" cy="1691640"/>
          </a:xfrm>
          <a:prstGeom prst="roundRect">
            <a:avLst>
              <a:gd name="adj" fmla="val 15135"/>
            </a:avLst>
          </a:prstGeom>
          <a:solidFill>
            <a:srgbClr val="EDF3F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50749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2294A"/>
                </a:solidFill>
                <a:latin typeface="Arial"/>
              </a:rPr>
              <a:t>Мы отталкивались от реальных бенефитов подписок. Оказалось, что для этой когорты подписка — не ценность, а название.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Что изменил после интервью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02536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Развернул карточки вертикально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9514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Помещается больше текста — бенефиты описаны словами, а не сокращениями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54096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Добавил третий вариант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46703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Появился средний уровень между базовым и максимальным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05655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7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Убрал информеры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9826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Всё, что влияет на решение, вынес на поверхность карточки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57216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2294A"/>
                </a:solidFill>
                <a:latin typeface="Arial"/>
              </a:rPr>
              <a:t>Переписал заголовки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4982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«Размещение с максимальными привилегиями» вместо «Серебро-лайт»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1609344"/>
            <a:ext cx="4096511" cy="488289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c_p7_6_X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91640"/>
            <a:ext cx="3931920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Бонус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Заодно разгрузил чекаут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Было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883664"/>
            <a:ext cx="2798064" cy="4553712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chk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633472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7639" y="16276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90"/>
                </a:solidFill>
                <a:latin typeface="Arial"/>
              </a:rPr>
              <a:t>Стало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5344" y="1883664"/>
            <a:ext cx="2121408" cy="1892807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E1E5EB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hk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965960"/>
            <a:ext cx="1956816" cy="1728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38862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7A90"/>
                </a:solidFill>
                <a:latin typeface="Arial"/>
              </a:rPr>
              <a:t>Скрины в одном масштабе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965960"/>
            <a:ext cx="4754880" cy="4389120"/>
          </a:xfrm>
          <a:prstGeom prst="roundRect">
            <a:avLst>
              <a:gd name="adj" fmla="val 583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28600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2294A"/>
                </a:solidFill>
                <a:latin typeface="Arial"/>
              </a:rPr>
              <a:t>Что было не так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>Панель раскрывала всё: состав, модификации, каждую скидку и кешбэк отдельной строкой. Пользователь всё равно не понимал, из чего складывается итог.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>Обсудил с разработчиками — место в рамках этой же задачи нашлось.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3D5C"/>
                </a:solidFill>
                <a:latin typeface="Arial"/>
              </a:rPr>
              <a:t>Оставил состав, одну строку скидки, явный итог и размер кешбэка — всё остальное ушло в «Подробнее о скидках».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Что показал А/Б-тест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74720" cy="2286000"/>
          </a:xfrm>
          <a:prstGeom prst="roundRect">
            <a:avLst>
              <a:gd name="adj" fmla="val 112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19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7A85A"/>
                </a:solidFill>
                <a:latin typeface="Arial"/>
              </a:rPr>
              <a:t>+2,5%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15468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Средний чек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в конструкторе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474720" cy="2286000"/>
          </a:xfrm>
          <a:prstGeom prst="roundRect">
            <a:avLst>
              <a:gd name="adj" fmla="val 112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7A85A"/>
                </a:solidFill>
                <a:latin typeface="Arial"/>
              </a:rPr>
              <a:t>+6,1%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5468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Выручка 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74519"/>
            <a:ext cx="3474720" cy="2286000"/>
          </a:xfrm>
          <a:prstGeom prst="roundRect">
            <a:avLst>
              <a:gd name="adj" fmla="val 112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49640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7A85A"/>
                </a:solidFill>
                <a:latin typeface="Arial"/>
              </a:rPr>
              <a:t>+22%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15468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Конверсия в покупку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A3D5C"/>
                </a:solidFill>
                <a:latin typeface="Arial"/>
              </a:rPr>
              <a:t>конструктора с баллами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17500"/>
            </a:avLst>
          </a:prstGeom>
          <a:solidFill>
            <a:srgbClr val="12294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1560" y="47548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+4 млн ₽ в месяц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7D6EE"/>
                </a:solidFill>
                <a:latin typeface="Arial"/>
              </a:rPr>
              <a:t>в денежном эквиваленте — то, что изменение принесло продукту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90"/>
                </a:solidFill>
                <a:latin typeface="Arial"/>
              </a:rPr>
              <a:t>Рефлексия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2294A"/>
                </a:solidFill>
                <a:latin typeface="Arial"/>
              </a:rPr>
              <a:t>Что я вынес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60119" y="219456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7432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94A"/>
                </a:solidFill>
                <a:latin typeface="Arial"/>
              </a:rPr>
              <a:t>Нейминг ≠ ценность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401568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Мы проектировали от реальной механики продукта. Но пользователи про подписки не знали — для них это был просто ярлык. Отличие вариантов нужно писать словами.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754880" y="219456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94A"/>
                </a:solidFill>
                <a:latin typeface="Arial"/>
              </a:rPr>
              <a:t>Информер — не место для смысла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01568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Всё, что влияет на решение о покупке, должно быть на поверхности. Спрятанная в тултип логика скидок не существует.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549640" y="219456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2F6F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7432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2294A"/>
                </a:solidFill>
                <a:latin typeface="Arial"/>
              </a:rPr>
              <a:t>Средний вариант нужен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01568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A3D5C"/>
                </a:solidFill>
                <a:latin typeface="Arial"/>
              </a:rPr>
              <a:t>Два полюса заставляют выбирать между «плохо» и «дорого». Третий делает выбор осмысленным и поднимает средний чек.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A90"/>
                </a:solidFill>
                <a:latin typeface="Arial"/>
              </a:rPr>
              <a:t>Спасибо. Готов рассказать подробнее про любой из шагов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